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A3A"/>
              </a:gs>
              <a:gs pos="100000">
                <a:srgbClr val="1D4ED8"/>
              </a:gs>
            </a:gsLst>
            <a:lin scaled="0" ang="14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18288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9260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WIPRO RGA Program_2025/00727 CP JAVA 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Capstone Project Presentation — June 18th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05840"/>
            <a:ext cx="11704320" cy="25400"/>
          </a:xfrm>
          <a:prstGeom prst="rect">
            <a:avLst/>
          </a:prstGeom>
          <a:solidFill>
            <a:srgbClr val="3B6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234440"/>
            <a:ext cx="11521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 Light"/>
              </a:rPr>
              <a:t>NexCare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33172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AACCFF"/>
                </a:solidFill>
                <a:latin typeface="Calibri"/>
              </a:rPr>
              <a:t>Interactive Dashboard System for Customer Service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154680"/>
            <a:ext cx="11704320" cy="19050"/>
          </a:xfrm>
          <a:prstGeom prst="rect">
            <a:avLst/>
          </a:prstGeom>
          <a:solidFill>
            <a:srgbClr val="3B6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33375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  <a:latin typeface="Calibri"/>
              </a:rPr>
              <a:t>Project Title  —  Interactive Dashboard System for Customer Service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749039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Presented by  —  Rishitha Manyam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4343400"/>
            <a:ext cx="1405563" cy="384048"/>
          </a:xfrm>
          <a:prstGeom prst="roundRect">
            <a:avLst>
              <a:gd name="adj" fmla="val 50000"/>
            </a:avLst>
          </a:prstGeom>
          <a:solidFill>
            <a:srgbClr val="1B2D5C"/>
          </a:solidFill>
          <a:ln w="12700">
            <a:solidFill>
              <a:srgbClr val="3B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4343400"/>
            <a:ext cx="14055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93C5FD"/>
                </a:solidFill>
                <a:latin typeface="Calibri"/>
              </a:rPr>
              <a:t>Spring Boot 3.2.5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71323" y="4343400"/>
            <a:ext cx="1240971" cy="384048"/>
          </a:xfrm>
          <a:prstGeom prst="roundRect">
            <a:avLst>
              <a:gd name="adj" fmla="val 50000"/>
            </a:avLst>
          </a:prstGeom>
          <a:solidFill>
            <a:srgbClr val="1B2D5C"/>
          </a:solidFill>
          <a:ln w="12700">
            <a:solidFill>
              <a:srgbClr val="3B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1323" y="4343400"/>
            <a:ext cx="124097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93C5FD"/>
                </a:solidFill>
                <a:latin typeface="Calibri"/>
              </a:rPr>
              <a:t>Angular 17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49454" y="4343400"/>
            <a:ext cx="1287997" cy="384048"/>
          </a:xfrm>
          <a:prstGeom prst="roundRect">
            <a:avLst>
              <a:gd name="adj" fmla="val 50000"/>
            </a:avLst>
          </a:prstGeom>
          <a:solidFill>
            <a:srgbClr val="1B2D5C"/>
          </a:solidFill>
          <a:ln w="12700">
            <a:solidFill>
              <a:srgbClr val="3B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9454" y="4343400"/>
            <a:ext cx="128799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93C5FD"/>
                </a:solidFill>
                <a:latin typeface="Calibri"/>
              </a:rPr>
              <a:t>JWT 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4611" y="4343400"/>
            <a:ext cx="1264484" cy="384048"/>
          </a:xfrm>
          <a:prstGeom prst="roundRect">
            <a:avLst>
              <a:gd name="adj" fmla="val 50000"/>
            </a:avLst>
          </a:prstGeom>
          <a:solidFill>
            <a:srgbClr val="1B2D5C"/>
          </a:solidFill>
          <a:ln w="12700">
            <a:solidFill>
              <a:srgbClr val="3B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4611" y="4343400"/>
            <a:ext cx="12644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93C5FD"/>
                </a:solidFill>
                <a:latin typeface="Calibri"/>
              </a:rPr>
              <a:t>H2 Database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76255" y="4343400"/>
            <a:ext cx="1358537" cy="384048"/>
          </a:xfrm>
          <a:prstGeom prst="roundRect">
            <a:avLst>
              <a:gd name="adj" fmla="val 50000"/>
            </a:avLst>
          </a:prstGeom>
          <a:solidFill>
            <a:srgbClr val="1B2D5C"/>
          </a:solidFill>
          <a:ln w="12700">
            <a:solidFill>
              <a:srgbClr val="3B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6255" y="4343400"/>
            <a:ext cx="135853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93C5FD"/>
                </a:solidFill>
                <a:latin typeface="Calibri"/>
              </a:rPr>
              <a:t>Java Full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AADD"/>
                </a:solidFill>
                <a:latin typeface="Calibri"/>
              </a:rPr>
              <a:t>wipro.com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51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064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1247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Problem Statement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7647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783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Solution Overview — NexCare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3682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423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4414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Tech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026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081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09981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System Architecture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7398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75818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Security Implementation (JWT)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3982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165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Code Deep Dive — Backend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001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0566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074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Code Deep Dive — Frontend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051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1064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11247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Database Design &amp; API Reference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1709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17647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783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Role-Based Dashboards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23682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423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4414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Key Features Walkthrough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3026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081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09981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7398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75818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Testing Summary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43982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4165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Key Learnings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960120"/>
            <a:ext cx="112471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70C0"/>
                </a:solidFill>
                <a:latin typeface="Calibri"/>
              </a:rPr>
              <a:t>▸ Telecom customer service teams in India struggle with disconnected tools</a:t>
            </a:r>
            <a:r>
              <a:rPr sz="1500" b="0">
                <a:solidFill>
                  <a:srgbClr val="333333"/>
                </a:solidFill>
                <a:latin typeface="Calibri"/>
              </a:rPr>
              <a:t>  representatives track tickets in spreadsheets with no unified, searchable view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70C0"/>
                </a:solidFill>
                <a:latin typeface="Calibri"/>
              </a:rPr>
              <a:t>▸ Managers cannot monitor team performance in real time</a:t>
            </a:r>
            <a:r>
              <a:rPr sz="1500" b="0">
                <a:solidFill>
                  <a:srgbClr val="333333"/>
                </a:solidFill>
                <a:latin typeface="Calibri"/>
              </a:rPr>
              <a:t>  no dashboard shows response time, resolution time, or workload distribution per representative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70C0"/>
                </a:solidFill>
                <a:latin typeface="Calibri"/>
              </a:rPr>
              <a:t>▸ Customers have no visibility into their own ticket status</a:t>
            </a:r>
            <a:r>
              <a:rPr sz="1500" b="0">
                <a:solidFill>
                  <a:srgbClr val="333333"/>
                </a:solidFill>
                <a:latin typeface="Calibri"/>
              </a:rPr>
              <a:t>  leads to repeated follow-up calls, consuming representative time that should go to new issues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70C0"/>
                </a:solidFill>
                <a:latin typeface="Calibri"/>
              </a:rPr>
              <a:t>▸ No role-based access control exists in ad-hoc tooling</a:t>
            </a:r>
            <a:r>
              <a:rPr sz="1500" b="0">
                <a:solidFill>
                  <a:srgbClr val="333333"/>
                </a:solidFill>
                <a:latin typeface="Calibri"/>
              </a:rPr>
              <a:t>  any staff member can potentially view data belonging to any customer — a privacy and compliance risk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70C0"/>
                </a:solidFill>
                <a:latin typeface="Calibri"/>
              </a:rPr>
              <a:t>▸ Service outages are communicated informally and untargeted</a:t>
            </a:r>
            <a:r>
              <a:rPr sz="1500" b="0">
                <a:solidFill>
                  <a:srgbClr val="333333"/>
                </a:solidFill>
                <a:latin typeface="Calibri"/>
              </a:rPr>
              <a:t>  every customer is notified regardless of whether their location is actually affected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0070C0"/>
                </a:solidFill>
                <a:latin typeface="Calibri"/>
              </a:rPr>
              <a:t>▸ Project Goal</a:t>
            </a:r>
            <a:r>
              <a:rPr sz="1500" b="0">
                <a:solidFill>
                  <a:srgbClr val="333333"/>
                </a:solidFill>
                <a:latin typeface="Calibri"/>
              </a:rPr>
              <a:t>  build one secure, role-based, real-time web application that solves all five problems above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Solution Overview — NexCare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8686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1">
                <a:solidFill>
                  <a:srgbClr val="333333"/>
                </a:solidFill>
                <a:latin typeface="Calibri"/>
              </a:rPr>
              <a:t>NexCare is a full-stack Java/Angular web application built for Indian telecom customer service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08760"/>
            <a:ext cx="2724912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C7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27632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Role-Based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333333"/>
                </a:solidFill>
                <a:latin typeface="Calibri"/>
              </a:rPr>
              <a:t>4 dashboards — Admin, Manager, Representative, Customer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5264" y="1508760"/>
            <a:ext cx="2724912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C7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2424" y="1627632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JWT-Secured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01168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333333"/>
                </a:solidFill>
                <a:latin typeface="Calibri"/>
              </a:rPr>
              <a:t>Every request authenticated; users see only authorised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508760"/>
            <a:ext cx="2724912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C7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627632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Real-Time Ticket 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01168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333333"/>
                </a:solidFill>
                <a:latin typeface="Calibri"/>
              </a:rPr>
              <a:t>Full audit trail — created, first response, resolved timestamps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4272" y="1508760"/>
            <a:ext cx="2724912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C7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627632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AI Chatbot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1168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333333"/>
                </a:solidFill>
                <a:latin typeface="Calibri"/>
              </a:rPr>
              <a:t>12-intent self-service chatbot reduces load on representatives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090672"/>
            <a:ext cx="2724912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C7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09544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Live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593592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333333"/>
                </a:solidFill>
                <a:latin typeface="Calibri"/>
              </a:rPr>
              <a:t>Chart.js bar + doughnut charts for performance monitoring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55264" y="3090672"/>
            <a:ext cx="2724912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C7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2424" y="3209544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Targeted Outage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2424" y="3593592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333333"/>
                </a:solidFill>
                <a:latin typeface="Calibri"/>
              </a:rPr>
              <a:t>Surfaces only to customers in the affected city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3090672"/>
            <a:ext cx="2724912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C7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3209544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India-Localised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3593592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333333"/>
                </a:solidFill>
                <a:latin typeface="Calibri"/>
              </a:rPr>
              <a:t>INR currency, Indian cities, Indian phone number formats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34272" y="3090672"/>
            <a:ext cx="2724912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C7D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1432" y="3209544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Zero-Setup 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3593592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333333"/>
                </a:solidFill>
                <a:latin typeface="Calibri"/>
              </a:rPr>
              <a:t>H2 file DB auto-seeds all demo data on first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8961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878C"/>
                </a:solidFill>
                <a:latin typeface="Calibri"/>
              </a:rPr>
              <a:t>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71600"/>
            <a:ext cx="109728" cy="502920"/>
          </a:xfrm>
          <a:prstGeom prst="roundRect">
            <a:avLst>
              <a:gd name="adj" fmla="val 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3716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Angular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6276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Standalone components — no NgModule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975104"/>
            <a:ext cx="109728" cy="502920"/>
          </a:xfrm>
          <a:prstGeom prst="roundRect">
            <a:avLst>
              <a:gd name="adj" fmla="val 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9751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TypeScript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Strict typing throughout the codebase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78608"/>
            <a:ext cx="109728" cy="502920"/>
          </a:xfrm>
          <a:prstGeom prst="roundRect">
            <a:avLst>
              <a:gd name="adj" fmla="val 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786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Chart.js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8346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Bar &amp; doughnut charts for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82112"/>
            <a:ext cx="109728" cy="502920"/>
          </a:xfrm>
          <a:prstGeom prst="roundRect">
            <a:avLst>
              <a:gd name="adj" fmla="val 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1821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CSS3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3814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Lilac theme, cubic-bezier animations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785616"/>
            <a:ext cx="109728" cy="502920"/>
          </a:xfrm>
          <a:prstGeom prst="roundRect">
            <a:avLst>
              <a:gd name="adj" fmla="val 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8561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Angular Router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416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Lazy loading + hash-based URLs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389120"/>
            <a:ext cx="109728" cy="502920"/>
          </a:xfrm>
          <a:prstGeom prst="roundRect">
            <a:avLst>
              <a:gd name="adj" fmla="val 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891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RxJS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6451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Reactive state &amp; cross-component events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992624"/>
            <a:ext cx="109728" cy="502920"/>
          </a:xfrm>
          <a:prstGeom prst="roundRect">
            <a:avLst>
              <a:gd name="adj" fmla="val 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9926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Proxy 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2486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Dev server forwards /api/* to :8080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8961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70C0"/>
                </a:solidFill>
                <a:latin typeface="Calibri"/>
              </a:rPr>
              <a:t>Backend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1371600"/>
            <a:ext cx="109728" cy="50292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371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Spring Boot 3.2.5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6276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REST API backend, embedded Tomcat server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1975104"/>
            <a:ext cx="109728" cy="50292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9751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Spring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2311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JWT filter chain enforced on every request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2578608"/>
            <a:ext cx="109728" cy="50292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5786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JJWT 0.12.3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28346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Token generation, signing, and validation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182112"/>
            <a:ext cx="109728" cy="50292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1821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Spring Data JPA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43814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ORM layer for all entities, no manual SQL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3785616"/>
            <a:ext cx="109728" cy="50292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7856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H2 File Database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0416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No external DB server required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389120"/>
            <a:ext cx="109728" cy="50292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3891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BCryptPasswordEncoder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6451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Secure one-way password hashing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4992624"/>
            <a:ext cx="109728" cy="50292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9926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Maven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2486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Build automation &amp; dependency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System Architecture — Three-Tier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005840"/>
            <a:ext cx="978408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008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1005840"/>
            <a:ext cx="128016" cy="1051560"/>
          </a:xfrm>
          <a:prstGeom prst="rect">
            <a:avLst/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097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878C"/>
                </a:solidFill>
                <a:latin typeface="Calibri"/>
              </a:rPr>
              <a:t>PRESENTATION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35331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Angular 17 Single-Page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691640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Components · Router · Functional Guards · Functional Interceptors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97880" y="2084832"/>
            <a:ext cx="365760" cy="292608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88720" y="2377440"/>
            <a:ext cx="978408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0" y="2377440"/>
            <a:ext cx="128016" cy="10515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4688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70C0"/>
                </a:solidFill>
                <a:latin typeface="Calibri"/>
              </a:rPr>
              <a:t>SERVICE / API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72491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Spring Boot REST Controllers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063240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AuthController · TicketController · AnalyticsController · OutageController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97880" y="3456432"/>
            <a:ext cx="365760" cy="292608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720" y="3749040"/>
            <a:ext cx="9784080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720" y="3749040"/>
            <a:ext cx="12801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3840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Calibri"/>
              </a:rPr>
              <a:t>DATA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09651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Spring Data JPA + H2 File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434840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User · Ticket · Outage · Notification entities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5257800"/>
            <a:ext cx="9784080" cy="7772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5376672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2410C"/>
                </a:solidFill>
                <a:latin typeface="Calibri"/>
              </a:rPr>
              <a:t>Communication: HTTP / JSON  —  Angular dev-server proxy in development, direct CORS in 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650992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2410C"/>
                </a:solidFill>
                <a:latin typeface="Calibri"/>
              </a:rPr>
              <a:t>Authentication: every single request carries a JWT Bearer token — validated on every protected endpoint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Security Implementation — JWT Authentication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960120"/>
            <a:ext cx="55321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17957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3502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106424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User submits email + password via Angular Sign-In 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960120"/>
            <a:ext cx="55321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17957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33502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106424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AuthController calls UserDetailsService — BCrypt verifies the hashed password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157984"/>
            <a:ext cx="55321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3774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5328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304288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JwtUtil generates a signed token: userId, email, role, 24h expiry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2157984"/>
            <a:ext cx="55321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23774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5328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304288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Token returned to frontend, stored in sessionStorage (clears on tab close)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355848"/>
            <a:ext cx="55321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357530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7307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502152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JWT Interceptor auto-attaches Authorization: Bearer &lt;token&gt; to every request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3355848"/>
            <a:ext cx="55321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357530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7307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502152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JwtAuthFilter validates the token's signature on every protected endpoint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553712"/>
            <a:ext cx="55321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477316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92861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700016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Angular Auth Guard checks the role before allowing route navigation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60" y="4553712"/>
            <a:ext cx="55321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17920" y="477316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492861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700016"/>
            <a:ext cx="44348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Logout clears sessionStorage — token becomes unusable immediately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Code Deep Dive — Backend (JWT Filter &amp; Ticket Service)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914400"/>
            <a:ext cx="5577840" cy="30632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987552"/>
            <a:ext cx="52486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3C5FD"/>
                </a:solidFill>
                <a:latin typeface="Calibri"/>
              </a:rPr>
              <a:t>JwtAuthFilter.java — runs on every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98448"/>
            <a:ext cx="5212080" cy="2587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C586C0"/>
                </a:solidFill>
                <a:latin typeface="Menlo"/>
              </a:rPr>
              <a:t>@Component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569CD6"/>
                </a:solidFill>
                <a:latin typeface="Menlo"/>
              </a:rPr>
              <a:t>public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class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4EC9B0"/>
                </a:solidFill>
                <a:latin typeface="Menlo"/>
              </a:rPr>
              <a:t>JwtAuthFilter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extends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OncePerRequestFilter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 b="1">
                <a:solidFill>
                  <a:srgbClr val="569CD6"/>
                </a:solidFill>
                <a:latin typeface="Menlo"/>
              </a:rPr>
              <a:t>protected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void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doFilterInternal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4EC9B0"/>
                </a:solidFill>
                <a:latin typeface="Menlo"/>
              </a:rPr>
              <a:t>HttpServletRequest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req</a:t>
            </a:r>
            <a:r>
              <a:rPr sz="1250">
                <a:solidFill>
                  <a:srgbClr val="D4D4D4"/>
                </a:solidFill>
                <a:latin typeface="Menlo"/>
              </a:rPr>
              <a:t>,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    </a:t>
            </a:r>
            <a:r>
              <a:rPr sz="1250">
                <a:solidFill>
                  <a:srgbClr val="4EC9B0"/>
                </a:solidFill>
                <a:latin typeface="Menlo"/>
              </a:rPr>
              <a:t>HttpServletResponse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res</a:t>
            </a:r>
            <a:r>
              <a:rPr sz="1250">
                <a:solidFill>
                  <a:srgbClr val="D4D4D4"/>
                </a:solidFill>
                <a:latin typeface="Menlo"/>
              </a:rPr>
              <a:t>,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4EC9B0"/>
                </a:solidFill>
                <a:latin typeface="Menlo"/>
              </a:rPr>
              <a:t>FilterChain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chain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</a:t>
            </a:r>
            <a:r>
              <a:rPr sz="1250">
                <a:solidFill>
                  <a:srgbClr val="4EC9B0"/>
                </a:solidFill>
                <a:latin typeface="Menlo"/>
              </a:rPr>
              <a:t>String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token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extractToken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req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</a:t>
            </a:r>
            <a:r>
              <a:rPr sz="1250" b="1">
                <a:solidFill>
                  <a:srgbClr val="569CD6"/>
                </a:solidFill>
                <a:latin typeface="Menlo"/>
              </a:rPr>
              <a:t>if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token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!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null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&amp;</a:t>
            </a:r>
            <a:r>
              <a:rPr sz="1250">
                <a:solidFill>
                  <a:srgbClr val="D4D4D4"/>
                </a:solidFill>
                <a:latin typeface="Menlo"/>
              </a:rPr>
              <a:t>&amp;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jwtUtil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isValid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token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    </a:t>
            </a:r>
            <a:r>
              <a:rPr sz="1250">
                <a:solidFill>
                  <a:srgbClr val="4EC9B0"/>
                </a:solidFill>
                <a:latin typeface="Menlo"/>
              </a:rPr>
              <a:t>String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role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jwtUtil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extractRole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token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    </a:t>
            </a:r>
            <a:r>
              <a:rPr sz="1250">
                <a:solidFill>
                  <a:srgbClr val="6A9955"/>
                </a:solidFill>
                <a:latin typeface="Menlo"/>
              </a:rPr>
              <a:t>// sets the authenticated user into the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    </a:t>
            </a:r>
            <a:r>
              <a:rPr sz="1250">
                <a:solidFill>
                  <a:srgbClr val="6A9955"/>
                </a:solidFill>
                <a:latin typeface="Menlo"/>
              </a:rPr>
              <a:t>// SecurityContext for this request only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    </a:t>
            </a:r>
            <a:r>
              <a:rPr sz="1250">
                <a:solidFill>
                  <a:srgbClr val="D4D4D4"/>
                </a:solidFill>
                <a:latin typeface="Menlo"/>
              </a:rPr>
              <a:t>setAuthentication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token</a:t>
            </a:r>
            <a:r>
              <a:rPr sz="1250">
                <a:solidFill>
                  <a:srgbClr val="D4D4D4"/>
                </a:solidFill>
                <a:latin typeface="Menlo"/>
              </a:rPr>
              <a:t>,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role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</a:t>
            </a: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</a:t>
            </a:r>
            <a:r>
              <a:rPr sz="1250">
                <a:solidFill>
                  <a:srgbClr val="D4D4D4"/>
                </a:solidFill>
                <a:latin typeface="Menlo"/>
              </a:rPr>
              <a:t>chain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doFilter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req</a:t>
            </a:r>
            <a:r>
              <a:rPr sz="1250">
                <a:solidFill>
                  <a:srgbClr val="D4D4D4"/>
                </a:solidFill>
                <a:latin typeface="Menlo"/>
              </a:rPr>
              <a:t>,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res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14400"/>
            <a:ext cx="5715000" cy="30632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987552"/>
            <a:ext cx="53858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3C5FD"/>
                </a:solidFill>
                <a:latin typeface="Calibri"/>
              </a:rPr>
              <a:t>TicketService.java — automatic SLA metric calculation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298448"/>
            <a:ext cx="5349240" cy="2587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569CD6"/>
                </a:solidFill>
                <a:latin typeface="Menlo"/>
              </a:rPr>
              <a:t>public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4EC9B0"/>
                </a:solidFill>
                <a:latin typeface="Menlo"/>
              </a:rPr>
              <a:t>Ticket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updateStatus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4EC9B0"/>
                </a:solidFill>
                <a:latin typeface="Menlo"/>
              </a:rPr>
              <a:t>Long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id</a:t>
            </a:r>
            <a:r>
              <a:rPr sz="1250">
                <a:solidFill>
                  <a:srgbClr val="D4D4D4"/>
                </a:solidFill>
                <a:latin typeface="Menlo"/>
              </a:rPr>
              <a:t>,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TicketStatus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newStatus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>
                <a:solidFill>
                  <a:srgbClr val="4EC9B0"/>
                </a:solidFill>
                <a:latin typeface="Menlo"/>
              </a:rPr>
              <a:t>Ticket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repo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findById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id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orElseThrow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 b="1">
                <a:solidFill>
                  <a:srgbClr val="569CD6"/>
                </a:solidFill>
                <a:latin typeface="Menlo"/>
              </a:rPr>
              <a:t>if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newStatus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TicketStatus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IN_PROGRESS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    </a:t>
            </a:r>
            <a:r>
              <a:rPr sz="1250">
                <a:solidFill>
                  <a:srgbClr val="D4D4D4"/>
                </a:solidFill>
                <a:latin typeface="Menlo"/>
              </a:rPr>
              <a:t>&amp;</a:t>
            </a:r>
            <a:r>
              <a:rPr sz="1250">
                <a:solidFill>
                  <a:srgbClr val="D4D4D4"/>
                </a:solidFill>
                <a:latin typeface="Menlo"/>
              </a:rPr>
              <a:t>&amp;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t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getFirstResponseAt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null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</a:t>
            </a:r>
            <a:r>
              <a:rPr sz="1250">
                <a:solidFill>
                  <a:srgbClr val="4EC9B0"/>
                </a:solidFill>
                <a:latin typeface="Menlo"/>
              </a:rPr>
              <a:t>LocalDateTime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now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4EC9B0"/>
                </a:solidFill>
                <a:latin typeface="Menlo"/>
              </a:rPr>
              <a:t>LocalDateTime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now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</a:t>
            </a:r>
            <a:r>
              <a:rPr sz="1250">
                <a:solidFill>
                  <a:srgbClr val="D4D4D4"/>
                </a:solidFill>
                <a:latin typeface="Menlo"/>
              </a:rPr>
              <a:t>t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setFirstResponseAt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now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</a:t>
            </a:r>
            <a:r>
              <a:rPr sz="1250">
                <a:solidFill>
                  <a:srgbClr val="D4D4D4"/>
                </a:solidFill>
                <a:latin typeface="Menlo"/>
              </a:rPr>
              <a:t>double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hrs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Duration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between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    </a:t>
            </a:r>
            <a:r>
              <a:rPr sz="1250">
                <a:solidFill>
                  <a:srgbClr val="D4D4D4"/>
                </a:solidFill>
                <a:latin typeface="Menlo"/>
              </a:rPr>
              <a:t>t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getCreatedAt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,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now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toMinutes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/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B5CEA8"/>
                </a:solidFill>
                <a:latin typeface="Menlo"/>
              </a:rPr>
              <a:t>60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B5CEA8"/>
                </a:solidFill>
                <a:latin typeface="Menlo"/>
              </a:rPr>
              <a:t>0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</a:t>
            </a:r>
            <a:r>
              <a:rPr sz="1250">
                <a:solidFill>
                  <a:srgbClr val="D4D4D4"/>
                </a:solidFill>
                <a:latin typeface="Menlo"/>
              </a:rPr>
              <a:t>t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setResponseTimeHrs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round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hrs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>
                <a:solidFill>
                  <a:srgbClr val="D4D4D4"/>
                </a:solidFill>
                <a:latin typeface="Menlo"/>
              </a:rPr>
              <a:t>t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setStatus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newStatus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 b="1">
                <a:solidFill>
                  <a:srgbClr val="569CD6"/>
                </a:solidFill>
                <a:latin typeface="Menlo"/>
              </a:rPr>
              <a:t>return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repo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save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t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60520"/>
            <a:ext cx="11475720" cy="17830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315968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JwtAuthFilter</a:t>
            </a:r>
            <a:r>
              <a:rPr sz="1200" b="0">
                <a:solidFill>
                  <a:srgbClr val="333333"/>
                </a:solidFill>
                <a:latin typeface="Calibri"/>
              </a:rPr>
              <a:t>  extends OncePerRequestFilter — guaranteed to run exactly once per request, before it reaches any controller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TicketService.updateStatus()</a:t>
            </a:r>
            <a:r>
              <a:rPr sz="1200" b="0">
                <a:solidFill>
                  <a:srgbClr val="333333"/>
                </a:solidFill>
                <a:latin typeface="Calibri"/>
              </a:rPr>
              <a:t>  computes responseTimeHrs and resolutionTimeHrs purely from timestamps — no manual data entry, no possibility of human error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Design decision</a:t>
            </a:r>
            <a:r>
              <a:rPr sz="1200" b="0">
                <a:solidFill>
                  <a:srgbClr val="333333"/>
                </a:solidFill>
                <a:latin typeface="Calibri"/>
              </a:rPr>
              <a:t>  all getters/setters are explicitly hand-written rather than annotation-generated — guarantees identical compilation across any JDK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Code Deep Dive — Frontend (Guard &amp; Interceptor)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914400"/>
            <a:ext cx="5577840" cy="35204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987552"/>
            <a:ext cx="52486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3C5FD"/>
                </a:solidFill>
                <a:latin typeface="Calibri"/>
              </a:rPr>
              <a:t>auth.guard.ts — functional route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98448"/>
            <a:ext cx="5212080" cy="3044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569CD6"/>
                </a:solidFill>
                <a:latin typeface="Menlo"/>
              </a:rPr>
              <a:t>export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const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authGuard</a:t>
            </a:r>
            <a:r>
              <a:rPr sz="1250">
                <a:solidFill>
                  <a:srgbClr val="D4D4D4"/>
                </a:solidFill>
                <a:latin typeface="Menlo"/>
              </a:rPr>
              <a:t>: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4EC9B0"/>
                </a:solidFill>
                <a:latin typeface="Menlo"/>
              </a:rPr>
              <a:t>CanActivateFn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route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&gt;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 b="1">
                <a:solidFill>
                  <a:srgbClr val="569CD6"/>
                </a:solidFill>
                <a:latin typeface="Menlo"/>
              </a:rPr>
              <a:t>const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auth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inject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AuthService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 b="1">
                <a:solidFill>
                  <a:srgbClr val="569CD6"/>
                </a:solidFill>
                <a:latin typeface="Menlo"/>
              </a:rPr>
              <a:t>const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router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inject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4EC9B0"/>
                </a:solidFill>
                <a:latin typeface="Menlo"/>
              </a:rPr>
              <a:t>Router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 b="1">
                <a:solidFill>
                  <a:srgbClr val="569CD6"/>
                </a:solidFill>
                <a:latin typeface="Menlo"/>
              </a:rPr>
              <a:t>const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role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auth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getRole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 b="1">
                <a:solidFill>
                  <a:srgbClr val="569CD6"/>
                </a:solidFill>
                <a:latin typeface="Menlo"/>
              </a:rPr>
              <a:t>const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allowed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route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data</a:t>
            </a:r>
            <a:r>
              <a:rPr sz="1250">
                <a:solidFill>
                  <a:srgbClr val="D4D4D4"/>
                </a:solidFill>
                <a:latin typeface="Menlo"/>
              </a:rPr>
              <a:t>[</a:t>
            </a:r>
            <a:r>
              <a:rPr sz="1250">
                <a:solidFill>
                  <a:srgbClr val="CE9178"/>
                </a:solidFill>
                <a:latin typeface="Menlo"/>
              </a:rPr>
              <a:t>"roles"</a:t>
            </a:r>
            <a:r>
              <a:rPr sz="1250">
                <a:solidFill>
                  <a:srgbClr val="D4D4D4"/>
                </a:solidFill>
                <a:latin typeface="Menlo"/>
              </a:rPr>
              <a:t>]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as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4EC9B0"/>
                </a:solidFill>
                <a:latin typeface="Menlo"/>
              </a:rPr>
              <a:t>string</a:t>
            </a:r>
            <a:r>
              <a:rPr sz="1250">
                <a:solidFill>
                  <a:srgbClr val="D4D4D4"/>
                </a:solidFill>
                <a:latin typeface="Menlo"/>
              </a:rPr>
              <a:t>[</a:t>
            </a:r>
            <a:r>
              <a:rPr sz="1250">
                <a:solidFill>
                  <a:srgbClr val="D4D4D4"/>
                </a:solidFill>
                <a:latin typeface="Menlo"/>
              </a:rPr>
              <a:t>]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 b="1">
                <a:solidFill>
                  <a:srgbClr val="569CD6"/>
                </a:solidFill>
                <a:latin typeface="Menlo"/>
              </a:rPr>
              <a:t>if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!</a:t>
            </a:r>
            <a:r>
              <a:rPr sz="1250">
                <a:solidFill>
                  <a:srgbClr val="D4D4D4"/>
                </a:solidFill>
                <a:latin typeface="Menlo"/>
              </a:rPr>
              <a:t>auth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isLoggedIn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>
                <a:solidFill>
                  <a:srgbClr val="D4D4D4"/>
                </a:solidFill>
                <a:latin typeface="Menlo"/>
              </a:rPr>
              <a:t>router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navigate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[</a:t>
            </a:r>
            <a:r>
              <a:rPr sz="1250">
                <a:solidFill>
                  <a:srgbClr val="CE9178"/>
                </a:solidFill>
                <a:latin typeface="Menlo"/>
              </a:rPr>
              <a:t>"/login"</a:t>
            </a:r>
            <a:r>
              <a:rPr sz="1250">
                <a:solidFill>
                  <a:srgbClr val="D4D4D4"/>
                </a:solidFill>
                <a:latin typeface="Menlo"/>
              </a:rPr>
              <a:t>]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 b="1">
                <a:solidFill>
                  <a:srgbClr val="569CD6"/>
                </a:solidFill>
                <a:latin typeface="Menlo"/>
              </a:rPr>
              <a:t>return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false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 b="1">
                <a:solidFill>
                  <a:srgbClr val="569CD6"/>
                </a:solidFill>
                <a:latin typeface="Menlo"/>
              </a:rPr>
              <a:t>if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allowed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&amp;</a:t>
            </a:r>
            <a:r>
              <a:rPr sz="1250">
                <a:solidFill>
                  <a:srgbClr val="D4D4D4"/>
                </a:solidFill>
                <a:latin typeface="Menlo"/>
              </a:rPr>
              <a:t>&amp;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!</a:t>
            </a:r>
            <a:r>
              <a:rPr sz="1250">
                <a:solidFill>
                  <a:srgbClr val="D4D4D4"/>
                </a:solidFill>
                <a:latin typeface="Menlo"/>
              </a:rPr>
              <a:t>allowed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includes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role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>
                <a:solidFill>
                  <a:srgbClr val="D4D4D4"/>
                </a:solidFill>
                <a:latin typeface="Menlo"/>
              </a:rPr>
              <a:t>router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navigate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[</a:t>
            </a:r>
            <a:r>
              <a:rPr sz="1250">
                <a:solidFill>
                  <a:srgbClr val="CE9178"/>
                </a:solidFill>
                <a:latin typeface="Menlo"/>
              </a:rPr>
              <a:t>"/login"</a:t>
            </a:r>
            <a:r>
              <a:rPr sz="1250">
                <a:solidFill>
                  <a:srgbClr val="D4D4D4"/>
                </a:solidFill>
                <a:latin typeface="Menlo"/>
              </a:rPr>
              <a:t>]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 b="1">
                <a:solidFill>
                  <a:srgbClr val="569CD6"/>
                </a:solidFill>
                <a:latin typeface="Menlo"/>
              </a:rPr>
              <a:t>return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false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 b="1">
                <a:solidFill>
                  <a:srgbClr val="569CD6"/>
                </a:solidFill>
                <a:latin typeface="Menlo"/>
              </a:rPr>
              <a:t>return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true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14400"/>
            <a:ext cx="5715000" cy="35204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987552"/>
            <a:ext cx="538581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3C5FD"/>
                </a:solidFill>
                <a:latin typeface="Calibri"/>
              </a:rPr>
              <a:t>jwt.interceptor.ts — attaches token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298448"/>
            <a:ext cx="5349240" cy="3044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569CD6"/>
                </a:solidFill>
                <a:latin typeface="Menlo"/>
              </a:rPr>
              <a:t>export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 b="1">
                <a:solidFill>
                  <a:srgbClr val="569CD6"/>
                </a:solidFill>
                <a:latin typeface="Menlo"/>
              </a:rPr>
              <a:t>const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jwtInterceptor</a:t>
            </a:r>
            <a:r>
              <a:rPr sz="1250">
                <a:solidFill>
                  <a:srgbClr val="D4D4D4"/>
                </a:solidFill>
                <a:latin typeface="Menlo"/>
              </a:rPr>
              <a:t>: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4EC9B0"/>
                </a:solidFill>
                <a:latin typeface="Menlo"/>
              </a:rPr>
              <a:t>HttpInterceptorFn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req</a:t>
            </a:r>
            <a:r>
              <a:rPr sz="1250">
                <a:solidFill>
                  <a:srgbClr val="D4D4D4"/>
                </a:solidFill>
                <a:latin typeface="Menlo"/>
              </a:rPr>
              <a:t>,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next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&gt;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 b="1">
                <a:solidFill>
                  <a:srgbClr val="569CD6"/>
                </a:solidFill>
                <a:latin typeface="Menlo"/>
              </a:rPr>
              <a:t>const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token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sessionStorage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getItem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CE9178"/>
                </a:solidFill>
                <a:latin typeface="Menlo"/>
              </a:rPr>
              <a:t>"token"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 b="1">
                <a:solidFill>
                  <a:srgbClr val="569CD6"/>
                </a:solidFill>
                <a:latin typeface="Menlo"/>
              </a:rPr>
              <a:t>if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token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</a:t>
            </a:r>
            <a:r>
              <a:rPr sz="1250">
                <a:solidFill>
                  <a:srgbClr val="D4D4D4"/>
                </a:solidFill>
                <a:latin typeface="Menlo"/>
              </a:rPr>
              <a:t>req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=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req</a:t>
            </a:r>
            <a:r>
              <a:rPr sz="1250">
                <a:solidFill>
                  <a:srgbClr val="D4D4D4"/>
                </a:solidFill>
                <a:latin typeface="Menlo"/>
              </a:rPr>
              <a:t>.</a:t>
            </a:r>
            <a:r>
              <a:rPr sz="1250">
                <a:solidFill>
                  <a:srgbClr val="D4D4D4"/>
                </a:solidFill>
                <a:latin typeface="Menlo"/>
              </a:rPr>
              <a:t>clone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</a:t>
            </a:r>
            <a:r>
              <a:rPr sz="1250">
                <a:solidFill>
                  <a:srgbClr val="D4D4D4"/>
                </a:solidFill>
                <a:latin typeface="Menlo"/>
              </a:rPr>
              <a:t>setHeaders</a:t>
            </a:r>
            <a:r>
              <a:rPr sz="1250">
                <a:solidFill>
                  <a:srgbClr val="D4D4D4"/>
                </a:solidFill>
                <a:latin typeface="Menlo"/>
              </a:rPr>
              <a:t>: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  </a:t>
            </a:r>
            <a:r>
              <a:rPr sz="1250">
                <a:solidFill>
                  <a:srgbClr val="D4D4D4"/>
                </a:solidFill>
                <a:latin typeface="Menlo"/>
              </a:rPr>
              <a:t>Authorization</a:t>
            </a:r>
            <a:r>
              <a:rPr sz="1250">
                <a:solidFill>
                  <a:srgbClr val="D4D4D4"/>
                </a:solidFill>
                <a:latin typeface="Menlo"/>
              </a:rPr>
              <a:t>: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`</a:t>
            </a:r>
            <a:r>
              <a:rPr sz="1250">
                <a:solidFill>
                  <a:srgbClr val="D4D4D4"/>
                </a:solidFill>
                <a:latin typeface="Menlo"/>
              </a:rPr>
              <a:t>Bearer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$</a:t>
            </a:r>
            <a:r>
              <a:rPr sz="1250">
                <a:solidFill>
                  <a:srgbClr val="D4D4D4"/>
                </a:solidFill>
                <a:latin typeface="Menlo"/>
              </a:rPr>
              <a:t>{</a:t>
            </a:r>
            <a:r>
              <a:rPr sz="1250">
                <a:solidFill>
                  <a:srgbClr val="D4D4D4"/>
                </a:solidFill>
                <a:latin typeface="Menlo"/>
              </a:rPr>
              <a:t>token</a:t>
            </a: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  <a:r>
              <a:rPr sz="1250">
                <a:solidFill>
                  <a:srgbClr val="D4D4D4"/>
                </a:solidFill>
                <a:latin typeface="Menlo"/>
              </a:rPr>
              <a:t>`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  </a:t>
            </a: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  </a:t>
            </a: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  </a:t>
            </a:r>
            <a:r>
              <a:rPr sz="1250" b="1">
                <a:solidFill>
                  <a:srgbClr val="569CD6"/>
                </a:solidFill>
                <a:latin typeface="Menlo"/>
              </a:rPr>
              <a:t>return</a:t>
            </a:r>
            <a:r>
              <a:rPr sz="1250">
                <a:solidFill>
                  <a:srgbClr val="D4D4D4"/>
                </a:solidFill>
                <a:latin typeface="Menlo"/>
              </a:rPr>
              <a:t> </a:t>
            </a:r>
            <a:r>
              <a:rPr sz="1250">
                <a:solidFill>
                  <a:srgbClr val="D4D4D4"/>
                </a:solidFill>
                <a:latin typeface="Menlo"/>
              </a:rPr>
              <a:t>next</a:t>
            </a:r>
            <a:r>
              <a:rPr sz="1250">
                <a:solidFill>
                  <a:srgbClr val="D4D4D4"/>
                </a:solidFill>
                <a:latin typeface="Menlo"/>
              </a:rPr>
              <a:t>(</a:t>
            </a:r>
            <a:r>
              <a:rPr sz="1250">
                <a:solidFill>
                  <a:srgbClr val="D4D4D4"/>
                </a:solidFill>
                <a:latin typeface="Menlo"/>
              </a:rPr>
              <a:t>req</a:t>
            </a:r>
            <a:r>
              <a:rPr sz="1250">
                <a:solidFill>
                  <a:srgbClr val="D4D4D4"/>
                </a:solidFill>
                <a:latin typeface="Menlo"/>
              </a:rPr>
              <a:t>)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Menlo"/>
              </a:rPr>
              <a:t>  </a:t>
            </a:r>
            <a:r>
              <a:rPr sz="1250">
                <a:solidFill>
                  <a:srgbClr val="D4D4D4"/>
                </a:solidFill>
                <a:latin typeface="Menlo"/>
              </a:rPr>
              <a:t>}</a:t>
            </a:r>
            <a:r>
              <a:rPr sz="1250">
                <a:solidFill>
                  <a:srgbClr val="D4D4D4"/>
                </a:solidFill>
                <a:latin typeface="Menlo"/>
              </a:rPr>
              <a:t>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617720"/>
            <a:ext cx="11475720" cy="13258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73168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Functional pattern</a:t>
            </a:r>
            <a:r>
              <a:rPr sz="1200" b="0">
                <a:solidFill>
                  <a:srgbClr val="333333"/>
                </a:solidFill>
                <a:latin typeface="Calibri"/>
              </a:rPr>
              <a:t>  Angular 17 guards and interceptors are plain functions using inject() — no class boilerplate, the modern style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Two independent layers</a:t>
            </a:r>
            <a:r>
              <a:rPr sz="1200" b="0">
                <a:solidFill>
                  <a:srgbClr val="333333"/>
                </a:solidFill>
                <a:latin typeface="Calibri"/>
              </a:rPr>
              <a:t>  the guard improves UX by blocking navigation early; the real security boundary is still enforced server-side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Database Design &amp; API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91440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914400"/>
            <a:ext cx="2743200" cy="36576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9692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417320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id, name, email, password (BCrypt)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role: ADMIN / MANAGER / REP / CUSTOMER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phone, location, managerId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firstLogin 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91440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8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914400"/>
            <a:ext cx="2743200" cy="365760"/>
          </a:xfrm>
          <a:prstGeom prst="rect">
            <a:avLst/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9692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TICKETS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1417320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id, customerId, repId, managerId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domain, subject, description, status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createdAt, firstResponseAt, resolvedAt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responseTimeHrs, resolutionTimeHrs, rating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91440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9692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OUTAGES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417320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id, location, affectedAreas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domain, description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severity, status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createdAt, resolvedAt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91440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914400"/>
            <a:ext cx="2743200" cy="365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9692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1417320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id, userId, message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type, isRead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createdAt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auto-created by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429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Calibri"/>
              </a:rPr>
              <a:t>Key API Endpoints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703320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74904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7307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Menlo"/>
              </a:rPr>
              <a:t>/api/auth/login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74904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Validates credentials, returns JWT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069080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11480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0965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Menlo"/>
              </a:rPr>
              <a:t>/api/auth/register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11480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Creates a new CUSTOMER account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434840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48056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4622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Menlo"/>
              </a:rPr>
              <a:t>/api/tickets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448056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Returns tickets filtered by caller's role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800600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84632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8280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Menlo"/>
              </a:rPr>
              <a:t>/api/tickets/{id}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484632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Updates status + stamps audit fields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166360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21208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5193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Menlo"/>
              </a:rPr>
              <a:t>/api/analytics/{role}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521208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Aggregated statistics for dashboards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5532120"/>
            <a:ext cx="777240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57784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55595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Menlo"/>
              </a:rPr>
              <a:t>/api/outages/location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557784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Outages filtered to one 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Role-Based Dashboards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960120"/>
            <a:ext cx="27249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960120"/>
            <a:ext cx="2724912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078992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465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6916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Manage all employees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609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6060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View all tickets system-wide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753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5204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Report service outages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897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4348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Full analytics overview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27832" y="960120"/>
            <a:ext cx="27249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0087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27832" y="960120"/>
            <a:ext cx="2724912" cy="502920"/>
          </a:xfrm>
          <a:prstGeom prst="rect">
            <a:avLst/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7832" y="1078992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MANAGER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17465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16916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Monitor team tickets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26609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26060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Resolve reported outages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5753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35204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View rep performance metrics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44897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44348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Manage escalations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9904" y="960120"/>
            <a:ext cx="27249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9904" y="960120"/>
            <a:ext cx="2724912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9904" y="1078992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REPRESENTATIVE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17465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16916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View &amp; update assigned tickets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91072" y="26609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26060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Search customers by name/phone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91072" y="35753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35204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Track own resolution 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91072" y="44897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44348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Forced password change on first login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51976" y="960120"/>
            <a:ext cx="27249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51976" y="960120"/>
            <a:ext cx="2724912" cy="5029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51976" y="1078992"/>
            <a:ext cx="2724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53144" y="17465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36024" y="16916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Raise new support tickets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53144" y="26609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36024" y="26060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Track ticket status live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53144" y="35753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36024" y="35204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Rate closed tickets 1–5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53144" y="44897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36024" y="443484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Use chatbot, see outage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Key Features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88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115568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Animated login — full-page lilac overlay, CSS cubic-bezier transitions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029968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Lazy-loaded routes — Angular loadComponent() per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944368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Query-param tab navigation — bookmarkable, refresh-safe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931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58768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Chart.js analytics — live bar + doughnut charts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754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846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73168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City-matched outage alert banner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097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188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111556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AI chatbot — 12 intents, RxJS Subject trigger from sidebar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02996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Ticket rating system — feeds straight into rep's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94436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Customer search — 400ms debounce, no API spam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931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85876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First-login detection — forces password change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754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8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4846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77316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India localisation — ₹ INR, Indian cities &amp; phone formats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914400"/>
            <a:ext cx="11475720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Sidebar → Chatbot communication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325880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37160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91C1C"/>
                </a:solidFill>
                <a:latin typeface="Calibri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36245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No parent-child relationship between siblings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325880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37160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56F39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362456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Created ChatService using an RxJS Subject as an event bus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965960"/>
            <a:ext cx="11475720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039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Tab navigation reliability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377440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42316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91C1C"/>
                </a:solidFill>
                <a:latin typeface="Calibri"/>
              </a:rPr>
              <a:t>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41401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scrollIntoView broke on page refresh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377440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42316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56F39"/>
                </a:solidFill>
                <a:latin typeface="Calibri"/>
              </a:rPr>
              <a:t>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414016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Switched to Angular Router query params (?tab=X)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017520"/>
            <a:ext cx="11475720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090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Chart.js inside @if blocks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429000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47472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91C1C"/>
                </a:solidFill>
                <a:latin typeface="Calibri"/>
              </a:rPr>
              <a:t>PROBLEM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46557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Canvas didn't exist yet when chart code ran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3429000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347472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56F39"/>
                </a:solidFill>
                <a:latin typeface="Calibri"/>
              </a:rP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465576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setTimeout(...,100) after tab switch, waits for DOM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069080"/>
            <a:ext cx="11475720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422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CORS between :4200 and :8080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480560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52628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91C1C"/>
                </a:solidFill>
                <a:latin typeface="Calibri"/>
              </a:rPr>
              <a:t>PROBLEM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451713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Browser blocked cross-origin dev requests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4480560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452628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56F39"/>
                </a:solidFill>
                <a:latin typeface="Calibri"/>
              </a:rPr>
              <a:t>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517136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Added proxy.conf.json — dev server forwards /api/*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5120640"/>
            <a:ext cx="11475720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193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Seed data duplicating on restart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532120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57784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91C1C"/>
                </a:solidFill>
                <a:latin typeface="Calibri"/>
              </a:rPr>
              <a:t>PROBLEM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55686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07070"/>
                </a:solidFill>
                <a:latin typeface="Calibri"/>
              </a:rPr>
              <a:t>DataInitializer ran every startup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5532120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5577840"/>
            <a:ext cx="868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56F39"/>
                </a:solidFill>
                <a:latin typeface="Calibri"/>
              </a:rPr>
              <a:t>SOLUTION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568696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Added existsById() guard — seeds only if empty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Testing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960120"/>
            <a:ext cx="11247120" cy="4114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332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Test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0332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Expected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033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371600"/>
            <a:ext cx="11247120" cy="548640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49047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Login with valid Admin credentials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9047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JWT issued, redirected to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1463040"/>
            <a:ext cx="1143000" cy="365760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153619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  <a:latin typeface="Calibri"/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938528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0574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Login with incorrect 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574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401 Unauthorized returned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2029968"/>
            <a:ext cx="1143000" cy="365760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21031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  <a:latin typeface="Calibri"/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505456"/>
            <a:ext cx="11247120" cy="548640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2432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Customer accesses /admin directly via 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62432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Redirected to login by route guard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2596896"/>
            <a:ext cx="1143000" cy="365760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267004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  <a:latin typeface="Calibri"/>
              </a:rPr>
              <a:t>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72384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19125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Representative resolves a ticket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19125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resolutionTimeHrs auto-calculated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0" y="3163824"/>
            <a:ext cx="1143000" cy="365760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323697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  <a:latin typeface="Calibri"/>
              </a:rPr>
              <a:t>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639312"/>
            <a:ext cx="11247120" cy="548640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75818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Outage reported in Mumbai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758184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Only Mumbai customers see the alert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3730752"/>
            <a:ext cx="1143000" cy="365760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380390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  <a:latin typeface="Calibri"/>
              </a:rPr>
              <a:t>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20624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3251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Token expiry after 24 hours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3251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API returns 401, user redirected to login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0" y="4297680"/>
            <a:ext cx="1143000" cy="365760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437083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  <a:latin typeface="Calibri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773168"/>
            <a:ext cx="11247120" cy="548640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8920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Application restarted twice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48920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  <a:latin typeface="Calibri"/>
              </a:rPr>
              <a:t>Seed data not duplicated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4864608"/>
            <a:ext cx="1143000" cy="365760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41280" y="493776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  <a:latin typeface="Calibri"/>
              </a:rPr>
              <a:t>PASS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Calibri"/>
              </a:rPr>
              <a:t>Key Learnings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11521440" cy="1905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6537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707070"/>
                </a:solidFill>
                <a:latin typeface="Calibri"/>
              </a:rPr>
              <a:t>General - RPS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1704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707070"/>
                </a:solidFill>
                <a:latin typeface="Calibri"/>
              </a:rPr>
              <a:t>2024 - RPS Consulting all rights 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6080760"/>
            <a:ext cx="411480" cy="4114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" y="61173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8961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878C"/>
                </a:solidFill>
                <a:latin typeface="Calibri"/>
              </a:rPr>
              <a:t>Key Learnings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878C"/>
                </a:solidFill>
                <a:latin typeface="Calibri"/>
              </a:rPr>
              <a:t>▸ Spring Security + JWT — stateless auth that scales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878C"/>
                </a:solidFill>
                <a:latin typeface="Calibri"/>
              </a:rPr>
              <a:t>▸ Angular standalone components — zero NgModule boilerplate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878C"/>
                </a:solidFill>
                <a:latin typeface="Calibri"/>
              </a:rPr>
              <a:t>▸ RxJS Subjects — correct pattern for sibling component events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878C"/>
                </a:solidFill>
                <a:latin typeface="Calibri"/>
              </a:rPr>
              <a:t>▸ Functional interceptors &amp; guards (Angular 17 style)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878C"/>
                </a:solidFill>
                <a:latin typeface="Calibri"/>
              </a:rPr>
              <a:t>▸ Proxy config bridges frontend/backend cleanly in dev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878C"/>
                </a:solidFill>
                <a:latin typeface="Calibri"/>
              </a:rPr>
              <a:t>▸ Chart.js must respect Angular's rendering lifecycle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878C"/>
                </a:solidFill>
                <a:latin typeface="Calibri"/>
              </a:rPr>
              <a:t>▸ @PostConstruct for dependable startup seeding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8961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Calibri"/>
              </a:rP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NexCare demonstrates a production-grade Java Full Stack app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Secure, role-based, real-time — built for Indian telecom ops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Clean architecture: Angular SPA + Spring Boot REST + H2 DB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Zero manual setup — runs with 2 commands after install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Covers the full SDLC: design, dev, security, testing, docs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0070C0"/>
                </a:solidFill>
                <a:latin typeface="Calibri"/>
              </a:rPr>
              <a:t>▸ Comprehensive supporting guides: setup, Q&amp;A, code walkthrough, formal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1A3A"/>
              </a:gs>
              <a:gs pos="100000">
                <a:srgbClr val="1D4ED8"/>
              </a:gs>
            </a:gsLst>
            <a:lin scaled="0" ang="14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18288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9260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468880"/>
            <a:ext cx="11704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383280"/>
            <a:ext cx="11704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AACCFF"/>
                </a:solidFill>
                <a:latin typeface="Calibri"/>
              </a:rPr>
              <a:t>Questions &amp;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4114800"/>
            <a:ext cx="1170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CDDFF"/>
                </a:solidFill>
                <a:latin typeface="Calibri"/>
              </a:rPr>
              <a:t>Rishitha Manyam  |  WIPRO RGA Program 2025  |  Java Full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4480560"/>
            <a:ext cx="1170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3C5FD"/>
                </a:solidFill>
                <a:latin typeface="Calibri"/>
              </a:rPr>
              <a:t>GitHub: github.com/rishithamanyam/Capstone-Project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AADD"/>
                </a:solidFill>
                <a:latin typeface="Calibri"/>
              </a:rPr>
              <a:t>wipro.com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